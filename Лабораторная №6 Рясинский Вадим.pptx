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6F71DE-9A4F-4D9B-A2F6-D9BC56330BB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A181D4A-C09D-4DA0-9558-B5A50B524B2A}">
      <dgm:prSet/>
      <dgm:spPr/>
      <dgm:t>
        <a:bodyPr/>
        <a:lstStyle/>
        <a:p>
          <a:r>
            <a:rPr lang="ru-RU"/>
            <a:t>Важность признаков (</a:t>
          </a:r>
          <a:r>
            <a:rPr lang="en-US"/>
            <a:t>Feature Importance)</a:t>
          </a:r>
        </a:p>
      </dgm:t>
    </dgm:pt>
    <dgm:pt modelId="{F283BB23-B95A-44B8-9923-AAE18FAA210E}" type="parTrans" cxnId="{409A7D20-C289-4BCA-9054-2A1FA041B9E0}">
      <dgm:prSet/>
      <dgm:spPr/>
      <dgm:t>
        <a:bodyPr/>
        <a:lstStyle/>
        <a:p>
          <a:endParaRPr lang="en-US"/>
        </a:p>
      </dgm:t>
    </dgm:pt>
    <dgm:pt modelId="{57475814-39C7-4301-9DE1-A50455D373BA}" type="sibTrans" cxnId="{409A7D20-C289-4BCA-9054-2A1FA041B9E0}">
      <dgm:prSet/>
      <dgm:spPr/>
      <dgm:t>
        <a:bodyPr/>
        <a:lstStyle/>
        <a:p>
          <a:endParaRPr lang="en-US"/>
        </a:p>
      </dgm:t>
    </dgm:pt>
    <dgm:pt modelId="{4C939E08-74CE-4CC9-998C-64A0EAF51342}">
      <dgm:prSet/>
      <dgm:spPr/>
      <dgm:t>
        <a:bodyPr/>
        <a:lstStyle/>
        <a:p>
          <a:r>
            <a:rPr lang="ru-RU"/>
            <a:t>Наиболее влияющие факторы</a:t>
          </a:r>
          <a:endParaRPr lang="en-US"/>
        </a:p>
      </dgm:t>
    </dgm:pt>
    <dgm:pt modelId="{41573F21-43B5-48C1-B832-4F42DEFEA5A2}" type="parTrans" cxnId="{BAF8F0FA-FE00-465C-9FAE-C09C292246E5}">
      <dgm:prSet/>
      <dgm:spPr/>
      <dgm:t>
        <a:bodyPr/>
        <a:lstStyle/>
        <a:p>
          <a:endParaRPr lang="en-US"/>
        </a:p>
      </dgm:t>
    </dgm:pt>
    <dgm:pt modelId="{D8217DB0-378B-48CF-A3D2-2BF6EFE29E1E}" type="sibTrans" cxnId="{BAF8F0FA-FE00-465C-9FAE-C09C292246E5}">
      <dgm:prSet/>
      <dgm:spPr/>
      <dgm:t>
        <a:bodyPr/>
        <a:lstStyle/>
        <a:p>
          <a:endParaRPr lang="en-US"/>
        </a:p>
      </dgm:t>
    </dgm:pt>
    <dgm:pt modelId="{093F20DE-14DE-43FC-9937-C833F64021B5}">
      <dgm:prSet/>
      <dgm:spPr/>
      <dgm:t>
        <a:bodyPr/>
        <a:lstStyle/>
        <a:p>
          <a:r>
            <a:rPr lang="ru-RU"/>
            <a:t>Анализ важности признаков показал, какие факторы больше всего влияют на задержки рейсов</a:t>
          </a:r>
          <a:endParaRPr lang="en-US"/>
        </a:p>
      </dgm:t>
    </dgm:pt>
    <dgm:pt modelId="{1ABDBEC9-CCED-440C-9438-643F6EC80818}" type="parTrans" cxnId="{4A3E7417-80FC-4508-B155-1AC3F5652698}">
      <dgm:prSet/>
      <dgm:spPr/>
      <dgm:t>
        <a:bodyPr/>
        <a:lstStyle/>
        <a:p>
          <a:endParaRPr lang="en-US"/>
        </a:p>
      </dgm:t>
    </dgm:pt>
    <dgm:pt modelId="{53A06DCE-E555-4B3B-B005-C8B1560C2293}" type="sibTrans" cxnId="{4A3E7417-80FC-4508-B155-1AC3F5652698}">
      <dgm:prSet/>
      <dgm:spPr/>
      <dgm:t>
        <a:bodyPr/>
        <a:lstStyle/>
        <a:p>
          <a:endParaRPr lang="en-US"/>
        </a:p>
      </dgm:t>
    </dgm:pt>
    <dgm:pt modelId="{AB18D93F-2C9C-436C-8765-BE741338DB42}" type="pres">
      <dgm:prSet presAssocID="{9B6F71DE-9A4F-4D9B-A2F6-D9BC56330BB9}" presName="root" presStyleCnt="0">
        <dgm:presLayoutVars>
          <dgm:dir/>
          <dgm:resizeHandles val="exact"/>
        </dgm:presLayoutVars>
      </dgm:prSet>
      <dgm:spPr/>
    </dgm:pt>
    <dgm:pt modelId="{B3F1F813-C8EC-4A6F-BDFC-A190CB8154F2}" type="pres">
      <dgm:prSet presAssocID="{BA181D4A-C09D-4DA0-9558-B5A50B524B2A}" presName="compNode" presStyleCnt="0"/>
      <dgm:spPr/>
    </dgm:pt>
    <dgm:pt modelId="{5D3F341A-62A7-4D10-9913-F65DA91AB273}" type="pres">
      <dgm:prSet presAssocID="{BA181D4A-C09D-4DA0-9558-B5A50B524B2A}" presName="bgRect" presStyleLbl="bgShp" presStyleIdx="0" presStyleCnt="3"/>
      <dgm:spPr/>
    </dgm:pt>
    <dgm:pt modelId="{A60D11FC-E41A-4057-8CDA-3F3A03A153AA}" type="pres">
      <dgm:prSet presAssocID="{BA181D4A-C09D-4DA0-9558-B5A50B524B2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Павлин"/>
        </a:ext>
      </dgm:extLst>
    </dgm:pt>
    <dgm:pt modelId="{1E9EDF2B-FB01-46EB-B011-5B9ECA71B178}" type="pres">
      <dgm:prSet presAssocID="{BA181D4A-C09D-4DA0-9558-B5A50B524B2A}" presName="spaceRect" presStyleCnt="0"/>
      <dgm:spPr/>
    </dgm:pt>
    <dgm:pt modelId="{AE053BD8-1592-4DF6-8780-41DAA0575849}" type="pres">
      <dgm:prSet presAssocID="{BA181D4A-C09D-4DA0-9558-B5A50B524B2A}" presName="parTx" presStyleLbl="revTx" presStyleIdx="0" presStyleCnt="3">
        <dgm:presLayoutVars>
          <dgm:chMax val="0"/>
          <dgm:chPref val="0"/>
        </dgm:presLayoutVars>
      </dgm:prSet>
      <dgm:spPr/>
    </dgm:pt>
    <dgm:pt modelId="{B726D845-07D5-4802-A8B1-7BAF05E9B7CC}" type="pres">
      <dgm:prSet presAssocID="{57475814-39C7-4301-9DE1-A50455D373BA}" presName="sibTrans" presStyleCnt="0"/>
      <dgm:spPr/>
    </dgm:pt>
    <dgm:pt modelId="{307196CA-DADE-47BD-ABFE-9EA61A46663B}" type="pres">
      <dgm:prSet presAssocID="{4C939E08-74CE-4CC9-998C-64A0EAF51342}" presName="compNode" presStyleCnt="0"/>
      <dgm:spPr/>
    </dgm:pt>
    <dgm:pt modelId="{91ED2D23-E024-495E-B8AD-99EDEBA233E8}" type="pres">
      <dgm:prSet presAssocID="{4C939E08-74CE-4CC9-998C-64A0EAF51342}" presName="bgRect" presStyleLbl="bgShp" presStyleIdx="1" presStyleCnt="3"/>
      <dgm:spPr/>
    </dgm:pt>
    <dgm:pt modelId="{57686D87-64A7-418D-96EF-F9806CB05D01}" type="pres">
      <dgm:prSet presAssocID="{4C939E08-74CE-4CC9-998C-64A0EAF5134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Флажок"/>
        </a:ext>
      </dgm:extLst>
    </dgm:pt>
    <dgm:pt modelId="{76EA57ED-8925-47A4-B95D-E74C15CF86A3}" type="pres">
      <dgm:prSet presAssocID="{4C939E08-74CE-4CC9-998C-64A0EAF51342}" presName="spaceRect" presStyleCnt="0"/>
      <dgm:spPr/>
    </dgm:pt>
    <dgm:pt modelId="{3CAACC21-E182-47B3-AE87-882CF01CA103}" type="pres">
      <dgm:prSet presAssocID="{4C939E08-74CE-4CC9-998C-64A0EAF51342}" presName="parTx" presStyleLbl="revTx" presStyleIdx="1" presStyleCnt="3">
        <dgm:presLayoutVars>
          <dgm:chMax val="0"/>
          <dgm:chPref val="0"/>
        </dgm:presLayoutVars>
      </dgm:prSet>
      <dgm:spPr/>
    </dgm:pt>
    <dgm:pt modelId="{5EE74279-B7F4-4D19-AF2A-F73A2CD7B62A}" type="pres">
      <dgm:prSet presAssocID="{D8217DB0-378B-48CF-A3D2-2BF6EFE29E1E}" presName="sibTrans" presStyleCnt="0"/>
      <dgm:spPr/>
    </dgm:pt>
    <dgm:pt modelId="{CAB6D47D-FB93-4AC0-951D-E5A94DB9CD47}" type="pres">
      <dgm:prSet presAssocID="{093F20DE-14DE-43FC-9937-C833F64021B5}" presName="compNode" presStyleCnt="0"/>
      <dgm:spPr/>
    </dgm:pt>
    <dgm:pt modelId="{5967CD95-E2E1-4D16-8288-638FFDA19C6D}" type="pres">
      <dgm:prSet presAssocID="{093F20DE-14DE-43FC-9937-C833F64021B5}" presName="bgRect" presStyleLbl="bgShp" presStyleIdx="2" presStyleCnt="3"/>
      <dgm:spPr/>
    </dgm:pt>
    <dgm:pt modelId="{0D193EA1-C8E9-461A-8F6D-B13FC35D71A2}" type="pres">
      <dgm:prSet presAssocID="{093F20DE-14DE-43FC-9937-C833F64021B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Секундомер"/>
        </a:ext>
      </dgm:extLst>
    </dgm:pt>
    <dgm:pt modelId="{645C040B-EBA7-412E-937D-53BDFE94DAF7}" type="pres">
      <dgm:prSet presAssocID="{093F20DE-14DE-43FC-9937-C833F64021B5}" presName="spaceRect" presStyleCnt="0"/>
      <dgm:spPr/>
    </dgm:pt>
    <dgm:pt modelId="{AE3D0360-3BAC-4E37-B31E-C9A404CE1F98}" type="pres">
      <dgm:prSet presAssocID="{093F20DE-14DE-43FC-9937-C833F64021B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3EBBD0C-B174-4C14-BEEE-B33E30746B39}" type="presOf" srcId="{093F20DE-14DE-43FC-9937-C833F64021B5}" destId="{AE3D0360-3BAC-4E37-B31E-C9A404CE1F98}" srcOrd="0" destOrd="0" presId="urn:microsoft.com/office/officeart/2018/2/layout/IconVerticalSolidList"/>
    <dgm:cxn modelId="{4A3E7417-80FC-4508-B155-1AC3F5652698}" srcId="{9B6F71DE-9A4F-4D9B-A2F6-D9BC56330BB9}" destId="{093F20DE-14DE-43FC-9937-C833F64021B5}" srcOrd="2" destOrd="0" parTransId="{1ABDBEC9-CCED-440C-9438-643F6EC80818}" sibTransId="{53A06DCE-E555-4B3B-B005-C8B1560C2293}"/>
    <dgm:cxn modelId="{409A7D20-C289-4BCA-9054-2A1FA041B9E0}" srcId="{9B6F71DE-9A4F-4D9B-A2F6-D9BC56330BB9}" destId="{BA181D4A-C09D-4DA0-9558-B5A50B524B2A}" srcOrd="0" destOrd="0" parTransId="{F283BB23-B95A-44B8-9923-AAE18FAA210E}" sibTransId="{57475814-39C7-4301-9DE1-A50455D373BA}"/>
    <dgm:cxn modelId="{1C443272-ED12-4FB8-BA5E-7DC9A2E04FD7}" type="presOf" srcId="{9B6F71DE-9A4F-4D9B-A2F6-D9BC56330BB9}" destId="{AB18D93F-2C9C-436C-8765-BE741338DB42}" srcOrd="0" destOrd="0" presId="urn:microsoft.com/office/officeart/2018/2/layout/IconVerticalSolidList"/>
    <dgm:cxn modelId="{0D59C0A3-7C91-4215-8364-5C1E71B21956}" type="presOf" srcId="{4C939E08-74CE-4CC9-998C-64A0EAF51342}" destId="{3CAACC21-E182-47B3-AE87-882CF01CA103}" srcOrd="0" destOrd="0" presId="urn:microsoft.com/office/officeart/2018/2/layout/IconVerticalSolidList"/>
    <dgm:cxn modelId="{63C7FCCF-8369-4D02-A3EE-89622BB6CA73}" type="presOf" srcId="{BA181D4A-C09D-4DA0-9558-B5A50B524B2A}" destId="{AE053BD8-1592-4DF6-8780-41DAA0575849}" srcOrd="0" destOrd="0" presId="urn:microsoft.com/office/officeart/2018/2/layout/IconVerticalSolidList"/>
    <dgm:cxn modelId="{BAF8F0FA-FE00-465C-9FAE-C09C292246E5}" srcId="{9B6F71DE-9A4F-4D9B-A2F6-D9BC56330BB9}" destId="{4C939E08-74CE-4CC9-998C-64A0EAF51342}" srcOrd="1" destOrd="0" parTransId="{41573F21-43B5-48C1-B832-4F42DEFEA5A2}" sibTransId="{D8217DB0-378B-48CF-A3D2-2BF6EFE29E1E}"/>
    <dgm:cxn modelId="{9A9CC470-488E-4E92-B93A-39872FD7B78D}" type="presParOf" srcId="{AB18D93F-2C9C-436C-8765-BE741338DB42}" destId="{B3F1F813-C8EC-4A6F-BDFC-A190CB8154F2}" srcOrd="0" destOrd="0" presId="urn:microsoft.com/office/officeart/2018/2/layout/IconVerticalSolidList"/>
    <dgm:cxn modelId="{BF72CE8C-3065-4DDF-8449-8C226A02EE02}" type="presParOf" srcId="{B3F1F813-C8EC-4A6F-BDFC-A190CB8154F2}" destId="{5D3F341A-62A7-4D10-9913-F65DA91AB273}" srcOrd="0" destOrd="0" presId="urn:microsoft.com/office/officeart/2018/2/layout/IconVerticalSolidList"/>
    <dgm:cxn modelId="{51B4D80F-02DE-4041-907C-DF0D909C7445}" type="presParOf" srcId="{B3F1F813-C8EC-4A6F-BDFC-A190CB8154F2}" destId="{A60D11FC-E41A-4057-8CDA-3F3A03A153AA}" srcOrd="1" destOrd="0" presId="urn:microsoft.com/office/officeart/2018/2/layout/IconVerticalSolidList"/>
    <dgm:cxn modelId="{81EAC1ED-147C-4733-BA99-F5F46ECA5468}" type="presParOf" srcId="{B3F1F813-C8EC-4A6F-BDFC-A190CB8154F2}" destId="{1E9EDF2B-FB01-46EB-B011-5B9ECA71B178}" srcOrd="2" destOrd="0" presId="urn:microsoft.com/office/officeart/2018/2/layout/IconVerticalSolidList"/>
    <dgm:cxn modelId="{9306D3E7-22CD-4BA1-BD40-0B2298E93062}" type="presParOf" srcId="{B3F1F813-C8EC-4A6F-BDFC-A190CB8154F2}" destId="{AE053BD8-1592-4DF6-8780-41DAA0575849}" srcOrd="3" destOrd="0" presId="urn:microsoft.com/office/officeart/2018/2/layout/IconVerticalSolidList"/>
    <dgm:cxn modelId="{25F51319-2E10-476D-992B-D4611A5F2738}" type="presParOf" srcId="{AB18D93F-2C9C-436C-8765-BE741338DB42}" destId="{B726D845-07D5-4802-A8B1-7BAF05E9B7CC}" srcOrd="1" destOrd="0" presId="urn:microsoft.com/office/officeart/2018/2/layout/IconVerticalSolidList"/>
    <dgm:cxn modelId="{E3F6E5A7-8731-417C-BA87-4E4A737ADA88}" type="presParOf" srcId="{AB18D93F-2C9C-436C-8765-BE741338DB42}" destId="{307196CA-DADE-47BD-ABFE-9EA61A46663B}" srcOrd="2" destOrd="0" presId="urn:microsoft.com/office/officeart/2018/2/layout/IconVerticalSolidList"/>
    <dgm:cxn modelId="{81348AD1-2B56-4127-A2C3-447C512664F2}" type="presParOf" srcId="{307196CA-DADE-47BD-ABFE-9EA61A46663B}" destId="{91ED2D23-E024-495E-B8AD-99EDEBA233E8}" srcOrd="0" destOrd="0" presId="urn:microsoft.com/office/officeart/2018/2/layout/IconVerticalSolidList"/>
    <dgm:cxn modelId="{F9A0FF74-7FCE-45FE-9270-1BA9AD1D74A0}" type="presParOf" srcId="{307196CA-DADE-47BD-ABFE-9EA61A46663B}" destId="{57686D87-64A7-418D-96EF-F9806CB05D01}" srcOrd="1" destOrd="0" presId="urn:microsoft.com/office/officeart/2018/2/layout/IconVerticalSolidList"/>
    <dgm:cxn modelId="{D9E17813-68F3-4B46-8D44-8DEE0121B634}" type="presParOf" srcId="{307196CA-DADE-47BD-ABFE-9EA61A46663B}" destId="{76EA57ED-8925-47A4-B95D-E74C15CF86A3}" srcOrd="2" destOrd="0" presId="urn:microsoft.com/office/officeart/2018/2/layout/IconVerticalSolidList"/>
    <dgm:cxn modelId="{8BDD6BAC-C16D-463F-B0E5-FC0AE21E57EF}" type="presParOf" srcId="{307196CA-DADE-47BD-ABFE-9EA61A46663B}" destId="{3CAACC21-E182-47B3-AE87-882CF01CA103}" srcOrd="3" destOrd="0" presId="urn:microsoft.com/office/officeart/2018/2/layout/IconVerticalSolidList"/>
    <dgm:cxn modelId="{0B62C734-9402-4305-94DA-DEDEBA075265}" type="presParOf" srcId="{AB18D93F-2C9C-436C-8765-BE741338DB42}" destId="{5EE74279-B7F4-4D19-AF2A-F73A2CD7B62A}" srcOrd="3" destOrd="0" presId="urn:microsoft.com/office/officeart/2018/2/layout/IconVerticalSolidList"/>
    <dgm:cxn modelId="{A0E69F03-BB43-43A4-8EB3-1B1BA527D3C9}" type="presParOf" srcId="{AB18D93F-2C9C-436C-8765-BE741338DB42}" destId="{CAB6D47D-FB93-4AC0-951D-E5A94DB9CD47}" srcOrd="4" destOrd="0" presId="urn:microsoft.com/office/officeart/2018/2/layout/IconVerticalSolidList"/>
    <dgm:cxn modelId="{3B2E2AF7-C1E5-4013-86EB-D257A2B963B1}" type="presParOf" srcId="{CAB6D47D-FB93-4AC0-951D-E5A94DB9CD47}" destId="{5967CD95-E2E1-4D16-8288-638FFDA19C6D}" srcOrd="0" destOrd="0" presId="urn:microsoft.com/office/officeart/2018/2/layout/IconVerticalSolidList"/>
    <dgm:cxn modelId="{3BC10697-A92F-4CA2-8954-183D64ED79AF}" type="presParOf" srcId="{CAB6D47D-FB93-4AC0-951D-E5A94DB9CD47}" destId="{0D193EA1-C8E9-461A-8F6D-B13FC35D71A2}" srcOrd="1" destOrd="0" presId="urn:microsoft.com/office/officeart/2018/2/layout/IconVerticalSolidList"/>
    <dgm:cxn modelId="{5B7464E9-97AF-4A4C-B911-2161307C1244}" type="presParOf" srcId="{CAB6D47D-FB93-4AC0-951D-E5A94DB9CD47}" destId="{645C040B-EBA7-412E-937D-53BDFE94DAF7}" srcOrd="2" destOrd="0" presId="urn:microsoft.com/office/officeart/2018/2/layout/IconVerticalSolidList"/>
    <dgm:cxn modelId="{A40DFE33-1727-4CE3-AFEE-E0DEF5338930}" type="presParOf" srcId="{CAB6D47D-FB93-4AC0-951D-E5A94DB9CD47}" destId="{AE3D0360-3BAC-4E37-B31E-C9A404CE1F9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3F341A-62A7-4D10-9913-F65DA91AB273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0D11FC-E41A-4057-8CDA-3F3A03A153AA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53BD8-1592-4DF6-8780-41DAA0575849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/>
            <a:t>Важность признаков (</a:t>
          </a:r>
          <a:r>
            <a:rPr lang="en-US" sz="2200" kern="1200"/>
            <a:t>Feature Importance)</a:t>
          </a:r>
        </a:p>
      </dsp:txBody>
      <dsp:txXfrm>
        <a:off x="1819120" y="673"/>
        <a:ext cx="4545103" cy="1574995"/>
      </dsp:txXfrm>
    </dsp:sp>
    <dsp:sp modelId="{91ED2D23-E024-495E-B8AD-99EDEBA233E8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686D87-64A7-418D-96EF-F9806CB05D01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AACC21-E182-47B3-AE87-882CF01CA103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/>
            <a:t>Наиболее влияющие факторы</a:t>
          </a:r>
          <a:endParaRPr lang="en-US" sz="2200" kern="1200"/>
        </a:p>
      </dsp:txBody>
      <dsp:txXfrm>
        <a:off x="1819120" y="1969418"/>
        <a:ext cx="4545103" cy="1574995"/>
      </dsp:txXfrm>
    </dsp:sp>
    <dsp:sp modelId="{5967CD95-E2E1-4D16-8288-638FFDA19C6D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193EA1-C8E9-461A-8F6D-B13FC35D71A2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3D0360-3BAC-4E37-B31E-C9A404CE1F98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/>
            <a:t>Анализ важности признаков показал, какие факторы больше всего влияют на задержки рейсов</a:t>
          </a:r>
          <a:endParaRPr lang="en-US" sz="2200" kern="1200"/>
        </a:p>
      </dsp:txBody>
      <dsp:txXfrm>
        <a:off x="1819120" y="3938162"/>
        <a:ext cx="4545103" cy="1574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639DC9-DC25-CF5B-96AD-52EED75E9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E65BB55-74B6-1865-F428-ADFDCA64A2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1BDD8A-0E61-694B-3653-179E2E16E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A352-B12F-43AE-AD39-5AAAF8B67446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EBDF0F-80CB-54D6-419E-19D3689F1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202F0A-64A9-A8DC-14E3-0F5643DC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75229-F27C-4D93-884D-BF3A4ABCF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1686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CC1483-D9FB-C7C4-6FB9-EB6F2B02C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EF54F0-6EBD-A0CD-0DC4-56435E1E3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022F5B-1566-CDD1-2B74-409F6591D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A352-B12F-43AE-AD39-5AAAF8B67446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D33550-8C75-690E-BD70-5EEE0891C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5EC3EF-6DC8-87DB-01A8-979559D54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75229-F27C-4D93-884D-BF3A4ABCF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513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8A6D9E-3373-D528-8D2C-C8D9998F4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FD61E8-E49D-6ED3-BAAC-9D059CC04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FEFCFC-1CD5-7800-EE92-C3DB1A478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A352-B12F-43AE-AD39-5AAAF8B67446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646E73-5373-9397-5C05-09CAB4342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5E53D1-3F1B-36BD-D242-5F8AE7D23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75229-F27C-4D93-884D-BF3A4ABCF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1472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6E7E3E-CD12-B8F3-4A29-2DEF2EEC1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E5D394-9067-DD17-F262-A11957944A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C85D50-F41B-FBB8-7EF9-F36096C5C5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02574A-ADE3-F516-135C-46C5A6D4D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A352-B12F-43AE-AD39-5AAAF8B67446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40B44FC-1BD7-53E9-2103-802952EAA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0EFD17-7FFB-7E46-0776-C7F1AD29A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75229-F27C-4D93-884D-BF3A4ABCF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9878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A2AD7D-BB05-1301-5ED5-8DC153D10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0E07D9-59DD-AEB7-0807-E86CA41DB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3CC7C10-4324-14C5-021F-D6A4FF7BA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47B1F20-EC7C-2D25-397E-C638EB8EAE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7E25A40-EBD9-3049-90D7-59CC1DF90C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F361126-C3A3-27EF-6F33-980F6E3F2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A352-B12F-43AE-AD39-5AAAF8B67446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0D77308-DE01-B289-A815-5F69AC7A7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667F10E-3121-FFB6-41DC-EEF4448E5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75229-F27C-4D93-884D-BF3A4ABCF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3321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2AED3-988D-B9E7-99CA-C9CB5E536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69C6B78-473F-5E63-8540-42A1F2EB3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A352-B12F-43AE-AD39-5AAAF8B67446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CE7A30-6C15-54D3-6CC4-604C716A9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8087BCA-898D-791E-C9C6-8B50A8D55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75229-F27C-4D93-884D-BF3A4ABCF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5356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DA61395-B37F-7DD2-F023-D17E593BB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A352-B12F-43AE-AD39-5AAAF8B67446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43E1D88-F571-4886-9E49-83DF17CC8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6851FB2-A36D-81DE-3799-2FAF00737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75229-F27C-4D93-884D-BF3A4ABCF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61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BF660B-85FE-40B6-5DAE-3E9E1901D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F5F365-2B28-2891-3A3C-14B0EFC83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13D7AC-A05A-E938-5CBD-5AF1EC300D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9D17116-895B-AC03-B6F5-AFAB93A73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A352-B12F-43AE-AD39-5AAAF8B67446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8EE32B-F6BF-84FB-0374-19DF3EBE5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CCAA38-59A7-C6F2-2E61-72E0F4422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75229-F27C-4D93-884D-BF3A4ABCF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507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04A4F8-E772-D555-358C-B5C049D05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B014C26-742E-D318-373A-9B1A658CCD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224904-5A0E-30AF-1C00-865C7CC25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726E67B-F69C-E40F-2A62-6123A050E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A352-B12F-43AE-AD39-5AAAF8B67446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9CC24A-DEE9-7FB4-6408-966E000DC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12E691-515E-D43D-5D0E-C5CBF0BE9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75229-F27C-4D93-884D-BF3A4ABCF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1827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EBA761-38EB-A83C-9030-077163DB2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D9B65A-A126-8FD9-3614-B5C4E4990B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A6F58B-53D4-A962-71DF-B21B3973C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A352-B12F-43AE-AD39-5AAAF8B67446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F39015-422A-A96B-D061-19830BB59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FD16B-A2FF-FA4C-6494-FDE95F17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75229-F27C-4D93-884D-BF3A4ABCF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755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3677CC8-CBF4-3BC6-EAA1-1E3C7C839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32FF316-C0B8-C965-3624-CF042EEF1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15AD81-3A1F-A571-1707-E5124BB2F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A352-B12F-43AE-AD39-5AAAF8B67446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68FFC6-D225-CB29-2DA6-0A901E2E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5B74BD-17B1-276C-4AF9-C5E71B853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75229-F27C-4D93-884D-BF3A4ABCF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3156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C279BB-6336-CCCC-71E4-5118F866A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1F110E-A248-6207-F01D-939EA0843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0D1119-1054-777A-06D7-1CFCA204B3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C4A352-B12F-43AE-AD39-5AAAF8B67446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FE8A83-EC6A-9F06-0E88-5966036046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5C9EAE-EFA2-9EE7-8199-C022B360B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975229-F27C-4D93-884D-BF3A4ABCF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2070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F59E62-DCF8-72FF-E9F1-79A894D16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ru-RU" sz="5600">
                <a:solidFill>
                  <a:srgbClr val="FFFFFF"/>
                </a:solidFill>
              </a:rPr>
              <a:t>Лабораторная работа №6</a:t>
            </a:r>
            <a:br>
              <a:rPr lang="ru-RU" sz="5600">
                <a:solidFill>
                  <a:srgbClr val="FFFFFF"/>
                </a:solidFill>
              </a:rPr>
            </a:br>
            <a:r>
              <a:rPr lang="ru-RU" sz="5600">
                <a:solidFill>
                  <a:srgbClr val="FFFFFF"/>
                </a:solidFill>
              </a:rPr>
              <a:t>Итоговый аналитический мини проект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B870DE-BE46-3F9D-D06E-5B172626B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5585" y="6151071"/>
            <a:ext cx="1857044" cy="561148"/>
          </a:xfrm>
        </p:spPr>
        <p:txBody>
          <a:bodyPr>
            <a:noAutofit/>
          </a:bodyPr>
          <a:lstStyle/>
          <a:p>
            <a:pPr algn="l"/>
            <a:r>
              <a:rPr lang="ru-RU" sz="1500" dirty="0">
                <a:solidFill>
                  <a:srgbClr val="FFFFFF"/>
                </a:solidFill>
              </a:rPr>
              <a:t>Рясинский Вадим</a:t>
            </a:r>
          </a:p>
          <a:p>
            <a:pPr algn="l"/>
            <a:r>
              <a:rPr lang="ru-RU" sz="1500" dirty="0">
                <a:solidFill>
                  <a:srgbClr val="FFFFFF"/>
                </a:solidFill>
              </a:rPr>
              <a:t>25-ИСТ-2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380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105A90-5B21-6BB7-0C24-44DCE7FD6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ru-RU" sz="3900">
                <a:solidFill>
                  <a:srgbClr val="FFFFFF"/>
                </a:solidFill>
              </a:rPr>
              <a:t>Цель – Объединить все этапы анализа данных и машинного обучения в одном проекте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A13F57-4BC3-05D9-A506-9582801D7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ru-RU" sz="2000">
                <a:solidFill>
                  <a:schemeClr val="tx1">
                    <a:alpha val="80000"/>
                  </a:schemeClr>
                </a:solidFill>
              </a:rPr>
              <a:t>Задачи:</a:t>
            </a:r>
          </a:p>
          <a:p>
            <a:r>
              <a:rPr lang="ru-RU" sz="2000">
                <a:solidFill>
                  <a:schemeClr val="tx1">
                    <a:alpha val="80000"/>
                  </a:schemeClr>
                </a:solidFill>
              </a:rPr>
              <a:t>1. Анализ данных (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EDA)</a:t>
            </a:r>
            <a:r>
              <a:rPr lang="ru-RU" sz="2000">
                <a:solidFill>
                  <a:schemeClr val="tx1">
                    <a:alpha val="80000"/>
                  </a:schemeClr>
                </a:solidFill>
              </a:rPr>
              <a:t>;</a:t>
            </a:r>
          </a:p>
          <a:p>
            <a:r>
              <a:rPr lang="ru-RU" sz="2000">
                <a:solidFill>
                  <a:schemeClr val="tx1">
                    <a:alpha val="80000"/>
                  </a:schemeClr>
                </a:solidFill>
              </a:rPr>
              <a:t>2. Подготовка данных;</a:t>
            </a:r>
          </a:p>
          <a:p>
            <a:r>
              <a:rPr lang="ru-RU" sz="2000">
                <a:solidFill>
                  <a:schemeClr val="tx1">
                    <a:alpha val="80000"/>
                  </a:schemeClr>
                </a:solidFill>
              </a:rPr>
              <a:t>3. Обучение моделей;</a:t>
            </a:r>
          </a:p>
          <a:p>
            <a:r>
              <a:rPr lang="ru-RU" sz="2000">
                <a:solidFill>
                  <a:schemeClr val="tx1">
                    <a:alpha val="80000"/>
                  </a:schemeClr>
                </a:solidFill>
              </a:rPr>
              <a:t>4. Улучшение моделей;</a:t>
            </a:r>
          </a:p>
          <a:p>
            <a:r>
              <a:rPr lang="ru-RU" sz="2000">
                <a:solidFill>
                  <a:schemeClr val="tx1">
                    <a:alpha val="80000"/>
                  </a:schemeClr>
                </a:solidFill>
              </a:rPr>
              <a:t>5. Интерпретация результатов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347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A75DB4-EA21-6083-95BB-C7675388C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ru-RU">
                <a:solidFill>
                  <a:srgbClr val="FFFFFF"/>
                </a:solidFill>
              </a:rPr>
              <a:t>Данные и предобработка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190F7B-B9F0-4FFA-DF7C-43FF1CC2F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ru-RU" sz="2000">
                <a:solidFill>
                  <a:schemeClr val="tx1">
                    <a:alpha val="80000"/>
                  </a:schemeClr>
                </a:solidFill>
              </a:rPr>
              <a:t>Использован датасет – 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finish_laba5.csv</a:t>
            </a:r>
          </a:p>
          <a:p>
            <a:r>
              <a:rPr lang="ru-RU" sz="2000">
                <a:solidFill>
                  <a:schemeClr val="tx1">
                    <a:alpha val="80000"/>
                  </a:schemeClr>
                </a:solidFill>
              </a:rPr>
              <a:t>Данные уже подготовлены (кодирование признаков выполнено)</a:t>
            </a:r>
          </a:p>
          <a:p>
            <a:r>
              <a:rPr lang="ru-RU" sz="2000">
                <a:solidFill>
                  <a:schemeClr val="tx1">
                    <a:alpha val="80000"/>
                  </a:schemeClr>
                </a:solidFill>
              </a:rPr>
              <a:t>Разделение на 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train/vest</a:t>
            </a:r>
            <a:endParaRPr lang="ru-RU" sz="2000">
              <a:solidFill>
                <a:schemeClr val="tx1">
                  <a:alpha val="80000"/>
                </a:schemeClr>
              </a:solidFill>
            </a:endParaRPr>
          </a:p>
          <a:p>
            <a:endParaRPr lang="ru-RU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ru-RU" sz="2000">
                <a:solidFill>
                  <a:schemeClr val="tx1">
                    <a:alpha val="80000"/>
                  </a:schemeClr>
                </a:solidFill>
              </a:rPr>
              <a:t>В работе использовался заранее обработанный датасет, полученный в лабораторной работе 5, что позволило сосредоточиться на моделировании и анализе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7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2A37A4-1651-EF86-2579-7625333C8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ru-RU" sz="4800">
                <a:solidFill>
                  <a:schemeClr val="bg1"/>
                </a:solidFill>
              </a:rPr>
              <a:t>Модели машинного обучения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AF5499-22DC-6411-FACC-6B8DA1162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r>
              <a:rPr lang="ru-RU" sz="1800">
                <a:solidFill>
                  <a:schemeClr val="tx2"/>
                </a:solidFill>
              </a:rPr>
              <a:t>Модели:</a:t>
            </a:r>
          </a:p>
          <a:p>
            <a:r>
              <a:rPr lang="ru-RU" sz="1800">
                <a:solidFill>
                  <a:schemeClr val="tx2"/>
                </a:solidFill>
              </a:rPr>
              <a:t>1. </a:t>
            </a:r>
            <a:r>
              <a:rPr lang="en-US" sz="1800">
                <a:solidFill>
                  <a:schemeClr val="tx2"/>
                </a:solidFill>
              </a:rPr>
              <a:t>Linear Regression</a:t>
            </a:r>
            <a:r>
              <a:rPr lang="ru-RU" sz="1800">
                <a:solidFill>
                  <a:schemeClr val="tx2"/>
                </a:solidFill>
              </a:rPr>
              <a:t>;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</a:rPr>
              <a:t>2. Decision Tree</a:t>
            </a:r>
            <a:r>
              <a:rPr lang="ru-RU" sz="1800">
                <a:solidFill>
                  <a:schemeClr val="tx2"/>
                </a:solidFill>
              </a:rPr>
              <a:t>;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</a:rPr>
              <a:t>3. Random Forest</a:t>
            </a:r>
          </a:p>
          <a:p>
            <a:endParaRPr lang="en-US" sz="1800">
              <a:solidFill>
                <a:schemeClr val="tx2"/>
              </a:solidFill>
            </a:endParaRPr>
          </a:p>
          <a:p>
            <a:r>
              <a:rPr lang="ru-RU" sz="1800">
                <a:solidFill>
                  <a:schemeClr val="tx2"/>
                </a:solidFill>
              </a:rPr>
              <a:t>Были обучены три модели машинного обучения, включая базовую линейную регрессию и более сложные алгоритмы</a:t>
            </a:r>
          </a:p>
        </p:txBody>
      </p:sp>
    </p:spTree>
    <p:extLst>
      <p:ext uri="{BB962C8B-B14F-4D97-AF65-F5344CB8AC3E}">
        <p14:creationId xmlns:p14="http://schemas.microsoft.com/office/powerpoint/2010/main" val="3447502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40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2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D3DAAE-44EE-1C56-2F5D-46AAC643A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ru-RU" sz="4800">
                <a:solidFill>
                  <a:schemeClr val="bg1"/>
                </a:solidFill>
              </a:rPr>
              <a:t>Сравнение моделей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9FCBDA-6CBC-187A-4A40-A51C221A3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r>
              <a:rPr lang="ru-RU" sz="1800">
                <a:solidFill>
                  <a:schemeClr val="tx2"/>
                </a:solidFill>
              </a:rPr>
              <a:t>Показатели:</a:t>
            </a:r>
          </a:p>
          <a:p>
            <a:r>
              <a:rPr lang="ru-RU" sz="1800">
                <a:solidFill>
                  <a:schemeClr val="tx2"/>
                </a:solidFill>
              </a:rPr>
              <a:t>1. </a:t>
            </a:r>
            <a:r>
              <a:rPr lang="en-US" sz="1800">
                <a:solidFill>
                  <a:schemeClr val="tx2"/>
                </a:solidFill>
              </a:rPr>
              <a:t>MAE;</a:t>
            </a:r>
          </a:p>
          <a:p>
            <a:r>
              <a:rPr lang="en-US" sz="1800">
                <a:solidFill>
                  <a:schemeClr val="tx2"/>
                </a:solidFill>
              </a:rPr>
              <a:t>2. MSE;</a:t>
            </a:r>
          </a:p>
          <a:p>
            <a:r>
              <a:rPr lang="en-US" sz="1800">
                <a:solidFill>
                  <a:schemeClr val="tx2"/>
                </a:solidFill>
              </a:rPr>
              <a:t>3. R2</a:t>
            </a:r>
          </a:p>
          <a:p>
            <a:r>
              <a:rPr lang="ru-RU" sz="1800">
                <a:solidFill>
                  <a:schemeClr val="tx2"/>
                </a:solidFill>
              </a:rPr>
              <a:t>Вывод:</a:t>
            </a:r>
          </a:p>
          <a:p>
            <a:r>
              <a:rPr lang="ru-RU" sz="1800">
                <a:solidFill>
                  <a:schemeClr val="tx2"/>
                </a:solidFill>
              </a:rPr>
              <a:t>1. </a:t>
            </a:r>
            <a:r>
              <a:rPr lang="en-US" sz="1800">
                <a:solidFill>
                  <a:schemeClr val="tx2"/>
                </a:solidFill>
              </a:rPr>
              <a:t>Linear Regression – </a:t>
            </a:r>
            <a:r>
              <a:rPr lang="ru-RU" sz="1800">
                <a:solidFill>
                  <a:schemeClr val="tx2"/>
                </a:solidFill>
              </a:rPr>
              <a:t>базовая</a:t>
            </a:r>
          </a:p>
          <a:p>
            <a:r>
              <a:rPr lang="ru-RU" sz="1800">
                <a:solidFill>
                  <a:schemeClr val="tx2"/>
                </a:solidFill>
              </a:rPr>
              <a:t>2. </a:t>
            </a:r>
            <a:r>
              <a:rPr lang="en-US" sz="1800">
                <a:solidFill>
                  <a:schemeClr val="tx2"/>
                </a:solidFill>
              </a:rPr>
              <a:t>Decision Tree – </a:t>
            </a:r>
            <a:r>
              <a:rPr lang="ru-RU" sz="1800">
                <a:solidFill>
                  <a:schemeClr val="tx2"/>
                </a:solidFill>
              </a:rPr>
              <a:t>склонна к переобучению</a:t>
            </a:r>
          </a:p>
          <a:p>
            <a:r>
              <a:rPr lang="en-US" sz="1800">
                <a:solidFill>
                  <a:schemeClr val="tx2"/>
                </a:solidFill>
              </a:rPr>
              <a:t>3. Random Forest – </a:t>
            </a:r>
            <a:r>
              <a:rPr lang="ru-RU" sz="1800">
                <a:solidFill>
                  <a:schemeClr val="tx2"/>
                </a:solidFill>
              </a:rPr>
              <a:t>лучший результат</a:t>
            </a:r>
          </a:p>
          <a:p>
            <a:endParaRPr lang="ru-RU" sz="1800">
              <a:solidFill>
                <a:schemeClr val="tx2"/>
              </a:solidFill>
            </a:endParaRPr>
          </a:p>
          <a:p>
            <a:r>
              <a:rPr lang="ru-RU" sz="1800">
                <a:solidFill>
                  <a:schemeClr val="tx2"/>
                </a:solidFill>
              </a:rPr>
              <a:t>По результатам сравнения Random Forest показала наилучшее качество и стабильность</a:t>
            </a:r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526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4BE9DB-3B90-CA28-1BBB-74DDD95D6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ru-RU" sz="4000"/>
              <a:t>Интерпретация модели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34" name="Объект 2">
            <a:extLst>
              <a:ext uri="{FF2B5EF4-FFF2-40B4-BE49-F238E27FC236}">
                <a16:creationId xmlns:a16="http://schemas.microsoft.com/office/drawing/2014/main" id="{FA98B65C-CB32-A810-9D00-6A92B2D264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9753551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560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CA9FE9-6AE6-0E31-E4DC-6F524C0AE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ru-RU">
                <a:solidFill>
                  <a:srgbClr val="FFFFFF"/>
                </a:solidFill>
              </a:rPr>
              <a:t>Выводы и применение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C1BAB1-E254-0C33-66B1-8F806B4E0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ru-RU" sz="2200"/>
              <a:t>Выводы:</a:t>
            </a:r>
          </a:p>
          <a:p>
            <a:r>
              <a:rPr lang="ru-RU" sz="2200"/>
              <a:t>1. Построен полный </a:t>
            </a:r>
            <a:r>
              <a:rPr lang="en-US" sz="2200"/>
              <a:t>ML pipeline;</a:t>
            </a:r>
          </a:p>
          <a:p>
            <a:r>
              <a:rPr lang="en-US" sz="2200"/>
              <a:t>2. </a:t>
            </a:r>
            <a:r>
              <a:rPr lang="ru-RU" sz="2200"/>
              <a:t>Лучшая модель – </a:t>
            </a:r>
            <a:r>
              <a:rPr lang="en-US" sz="2200"/>
              <a:t>Random Forest;</a:t>
            </a:r>
          </a:p>
          <a:p>
            <a:r>
              <a:rPr lang="ru-RU" sz="2200"/>
              <a:t>3. Модель показывает стабильные результаты</a:t>
            </a:r>
          </a:p>
          <a:p>
            <a:endParaRPr lang="ru-RU" sz="2200"/>
          </a:p>
          <a:p>
            <a:r>
              <a:rPr lang="ru-RU" sz="2200"/>
              <a:t>Применение:</a:t>
            </a:r>
          </a:p>
          <a:p>
            <a:r>
              <a:rPr lang="ru-RU" sz="2200"/>
              <a:t>1. Прогноз задержек;</a:t>
            </a:r>
          </a:p>
          <a:p>
            <a:r>
              <a:rPr lang="ru-RU" sz="2200"/>
              <a:t>2. Оптимизация расписания;</a:t>
            </a:r>
          </a:p>
          <a:p>
            <a:r>
              <a:rPr lang="ru-RU" sz="2200"/>
              <a:t>3. Анализ факторов риска</a:t>
            </a:r>
          </a:p>
          <a:p>
            <a:endParaRPr lang="ru-RU" sz="2200"/>
          </a:p>
          <a:p>
            <a:r>
              <a:rPr lang="ru-RU" sz="2200"/>
              <a:t>Итоговая модель может быть применена в авиакомпаниях для прогнозирования и снижения задержек рейсов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690976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260</Words>
  <Application>Microsoft Office PowerPoint</Application>
  <PresentationFormat>Широкоэкранный</PresentationFormat>
  <Paragraphs>50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Тема Office</vt:lpstr>
      <vt:lpstr>Лабораторная работа №6 Итоговый аналитический мини проект</vt:lpstr>
      <vt:lpstr>Цель – Объединить все этапы анализа данных и машинного обучения в одном проекте</vt:lpstr>
      <vt:lpstr>Данные и предобработка</vt:lpstr>
      <vt:lpstr>Модели машинного обучения</vt:lpstr>
      <vt:lpstr>Сравнение моделей</vt:lpstr>
      <vt:lpstr>Интерпретация модели</vt:lpstr>
      <vt:lpstr>Выводы и применение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Vadim Ryasinskiy</dc:creator>
  <cp:lastModifiedBy>Vadim Ryasinskiy</cp:lastModifiedBy>
  <cp:revision>7</cp:revision>
  <dcterms:created xsi:type="dcterms:W3CDTF">2026-05-23T08:34:07Z</dcterms:created>
  <dcterms:modified xsi:type="dcterms:W3CDTF">2026-05-23T08:56:22Z</dcterms:modified>
</cp:coreProperties>
</file>